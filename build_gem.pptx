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800" u="none" kumimoji="0" normalizeH="0">
        <a:ln>
          <a:noFill/>
        </a:ln>
        <a:solidFill>
          <a:srgbClr val="000000"/>
        </a:solidFill>
        <a:effectLst/>
        <a:uFillTx/>
        <a:latin typeface="Roboto Mono Medium for Powerline"/>
        <a:ea typeface="Roboto Mono Medium for Powerline"/>
        <a:cs typeface="Roboto Mono Medium for Powerline"/>
        <a:sym typeface="Roboto Mono Medium for Powerlin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xfrm>
            <a:off x="6336779" y="9234627"/>
            <a:ext cx="331242" cy="2730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" name="スライドのサブタイトル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30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アボカドとライム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プレゼンテーションのタイトル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40" name="本文レベル1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1" name="作者と日付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42" name="スライド番号"/>
          <p:cNvSpPr txBox="1"/>
          <p:nvPr>
            <p:ph type="sldNum" sz="quarter" idx="2"/>
          </p:nvPr>
        </p:nvSpPr>
        <p:spPr>
          <a:xfrm>
            <a:off x="6333324" y="9234627"/>
            <a:ext cx="331243" cy="2730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サーモンケーキ、サラダ、フムスが入ったボウル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0" name="本文レベル1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1" name="スライドのタイトル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スライドのタイトル</a:t>
            </a:r>
          </a:p>
        </p:txBody>
      </p:sp>
      <p:sp>
        <p:nvSpPr>
          <p:cNvPr id="5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>
            <a:lvl1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パセリバター、煎りヘーゼルナッツ、削ったパルメザンチーズがかかったパッパルデッレパスタ1皿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8" name="スライドのタイトル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スライドのタイトル</a:t>
            </a:r>
          </a:p>
        </p:txBody>
      </p:sp>
      <p:sp>
        <p:nvSpPr>
          <p:cNvPr id="69" name="スライドのサブタイトル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0" name="本文レベル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スライドのタイトル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スライドのタイトル</a:t>
            </a:r>
          </a:p>
        </p:txBody>
      </p:sp>
      <p:sp>
        <p:nvSpPr>
          <p:cNvPr id="79" name="スライドのサブタイトル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0" name="本文レベル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スライドのタイトル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スライドのタイトル</a:t>
            </a:r>
          </a:p>
        </p:txBody>
      </p:sp>
      <p:sp>
        <p:nvSpPr>
          <p:cNvPr id="89" name="スライドのサブタイトル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90" name="本文レベル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>
            <a:lvl1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>
              <a:defRPr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セクションタイトル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スライドのタイトル</a:t>
            </a:r>
          </a:p>
        </p:txBody>
      </p:sp>
      <p:sp>
        <p:nvSpPr>
          <p:cNvPr id="107" name="スライドのサブタイトル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議題のタイトル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議題のタイトル</a:t>
            </a:r>
          </a:p>
        </p:txBody>
      </p:sp>
      <p:sp>
        <p:nvSpPr>
          <p:cNvPr id="116" name="議題のサブタイトル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7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0" indent="457200">
              <a:spcBef>
                <a:spcPts val="1300"/>
              </a:spcBef>
              <a:buSzTx/>
              <a:buNone/>
              <a:defRPr spc="-38" sz="38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0" indent="914400">
              <a:spcBef>
                <a:spcPts val="1300"/>
              </a:spcBef>
              <a:buSzTx/>
              <a:buNone/>
              <a:defRPr spc="-38" sz="38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0" indent="1371600">
              <a:spcBef>
                <a:spcPts val="1300"/>
              </a:spcBef>
              <a:buSzTx/>
              <a:buNone/>
              <a:defRPr spc="-38" sz="38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0" indent="1828800">
              <a:spcBef>
                <a:spcPts val="1300"/>
              </a:spcBef>
              <a:buSzTx/>
              <a:buNone/>
              <a:defRPr spc="-38" sz="38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本文レベル1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6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ファクト情報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34" name="本文レベル1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76" sz="176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76" sz="176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76" sz="176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76" sz="176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76" sz="176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本文レベル1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3" name="属性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4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パセリバター、煎りヘーゼルナッツ、削ったパルメザンチーズがかかったパッパルデッレパスタ1皿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2" name="炒飯、ゆで卵、箸が添えられたボウル1杯のサラダ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3" name="サーモンケーキ、サラダ、フムスが入ったボウル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炒飯、ゆで卵、箸が添えられたボウル1杯のサラダ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2" name="スライド番号"/>
          <p:cNvSpPr txBox="1"/>
          <p:nvPr>
            <p:ph type="sldNum" sz="quarter" idx="2"/>
          </p:nvPr>
        </p:nvSpPr>
        <p:spPr>
          <a:xfrm>
            <a:off x="6336779" y="9234627"/>
            <a:ext cx="331242" cy="2730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本文レベル1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スライドのタイトル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6333392" y="9234627"/>
            <a:ext cx="331243" cy="2730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1pPr>
      <a:lvl2pPr marL="0" marR="0" indent="4572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2pPr>
      <a:lvl3pPr marL="0" marR="0" indent="9144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3pPr>
      <a:lvl4pPr marL="0" marR="0" indent="13716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4pPr>
      <a:lvl5pPr marL="0" marR="0" indent="18288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5pPr>
      <a:lvl6pPr marL="0" marR="0" indent="22860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6pPr>
      <a:lvl7pPr marL="0" marR="0" indent="27432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7pPr>
      <a:lvl8pPr marL="0" marR="0" indent="32004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8pPr>
      <a:lvl9pPr marL="0" marR="0" indent="3657600" algn="l" defTabSz="173393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9" strike="noStrike" sz="6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9pPr>
    </p:titleStyle>
    <p:bodyStyle>
      <a:lvl1pPr marL="381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1pPr>
      <a:lvl2pPr marL="762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2pPr>
      <a:lvl3pPr marL="1143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3pPr>
      <a:lvl4pPr marL="1524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4pPr>
      <a:lvl5pPr marL="1905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5pPr>
      <a:lvl6pPr marL="2286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6pPr>
      <a:lvl7pPr marL="2667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7pPr>
      <a:lvl8pPr marL="3048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8pPr>
      <a:lvl9pPr marL="3429000" marR="0" indent="-381000" algn="l" defTabSz="173393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Roboto Mono Medium for Powerline"/>
          <a:ea typeface="Roboto Mono Medium for Powerline"/>
          <a:cs typeface="Roboto Mono Medium for Powerline"/>
          <a:sym typeface="Roboto Mono Medium for Powerlin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bob 2025/11/23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bob 2025/11/23</a:t>
            </a:r>
          </a:p>
        </p:txBody>
      </p:sp>
      <p:sp>
        <p:nvSpPr>
          <p:cNvPr id="172" name="Ruby advanc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Roboto Mono Medium for Powerline"/>
                <a:ea typeface="Roboto Mono Medium for Powerline"/>
                <a:cs typeface="Roboto Mono Medium for Powerline"/>
                <a:sym typeface="Roboto Mono Medium for Powerline"/>
              </a:defRPr>
            </a:lvl1pPr>
          </a:lstStyle>
          <a:p>
            <a:pPr/>
            <a:r>
              <a:t>Ruby advance</a:t>
            </a:r>
          </a:p>
        </p:txBody>
      </p:sp>
      <p:sp>
        <p:nvSpPr>
          <p:cNvPr id="173" name="bundle gem hyper_card_builder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bundle gem hyper_card_builder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# initialize…"/>
          <p:cNvSpPr txBox="1"/>
          <p:nvPr/>
        </p:nvSpPr>
        <p:spPr>
          <a:xfrm>
            <a:off x="479283" y="802621"/>
            <a:ext cx="12442404" cy="5562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b="1" sz="1200">
                <a:solidFill>
                  <a:srgbClr val="800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initialize</a:t>
            </a:r>
            <a:endParaRPr b="0">
              <a:solidFill>
                <a:srgbClr val="3B3B3B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545454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gem hyper_card_builder  --test=minitest --exe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Creating gem 'hyper_card_builder'...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MIT License enabled in config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Code of conduct enabled in config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Changelog enabled in config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Initializing git repo in /Users/bob/git_hub/hyper_card_builder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hyper_card_builder/Gemfile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hyper_card_builder/lib/hyper_card_builder.rb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hyper_card_builder/lib/hyper_card_builder/version.rb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hyper_card_builder/sig/hyper_card_builder.rbs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hyper_card_builder/hyper_card_builder.gemspec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hyper_card_builder/Rakefile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hyper_card_builder/README.md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hyper_card_builder/bin/console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hyper_card_builder/bin/setup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hyper_card_builder/.gitignore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hyper_card_builder/test/test_helper.rb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hyper_card_builder/test/test_hyper_card_builder.rb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hyper_card_builder/LICENSE.txt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hyper_card_builder/CODE_OF_CONDUCT.md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hyper_card_builder/CHANGELOG.md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      create</a:t>
            </a:r>
            <a:r>
              <a:t>  hyper_card_builder/exe/hyper_card_builder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Gem 'hyper_card_builder' was successfully created. For more information on making a RubyGem visit https://bundler.io/guides/creating_gem.html</a:t>
            </a:r>
          </a:p>
        </p:txBody>
      </p:sp>
      <p:sp>
        <p:nvSpPr>
          <p:cNvPr id="176" name=" cat Gemfile…"/>
          <p:cNvSpPr txBox="1"/>
          <p:nvPr/>
        </p:nvSpPr>
        <p:spPr>
          <a:xfrm>
            <a:off x="3283322" y="1155884"/>
            <a:ext cx="8039510" cy="84328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FBB1D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cat </a:t>
            </a:r>
            <a:r>
              <a:rPr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</a:rPr>
              <a:t>Gemfile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frozen_string_literal: true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source "https://rubygems.org"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Specify your gem's dependencies in hyper_card_builder.gemspec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gemspec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gem "irb"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gem "rake", "~&gt; 13.0"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gem "minitest", "~&gt; 5.16"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FBB1D"/>
                </a:solidFill>
              </a:rPr>
              <a:t> </a:t>
            </a:r>
            <a:r>
              <a:t>bundle </a:t>
            </a:r>
            <a:r>
              <a:rPr>
                <a:solidFill>
                  <a:srgbClr val="38C1FF"/>
                </a:solidFill>
              </a:rPr>
              <a:t>update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gem metadata from https://rubygems.org/..........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Resolving dependencies...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date 3.5.0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erb 6.0.0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io-console 0.8.1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stringio 3.1.8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tsort 0.2.0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prettyprint 0.2.0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minitest 5.26.2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erb 6.0.0 with native extensions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io-console 0.8.1 with native extensions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date 3.5.0 with native extensions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stringio 3.1.8 with native extensions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tsort 0.2.0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prettyprint 0.2.0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minitest 5.26.2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pp 0.6.3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pp 0.6.3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reline 0.6.3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reline 0.6.3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psych 5.2.6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psych 5.2.6 with native extensions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rdoc 6.15.1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rdoc 6.15.1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irb 1.15.3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Installing irb 1.15.3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Bundle updated!</a:t>
            </a:r>
          </a:p>
        </p:txBody>
      </p:sp>
      <p:sp>
        <p:nvSpPr>
          <p:cNvPr id="177" name=" tree -C…"/>
          <p:cNvSpPr txBox="1"/>
          <p:nvPr/>
        </p:nvSpPr>
        <p:spPr>
          <a:xfrm>
            <a:off x="8279937" y="2719660"/>
            <a:ext cx="4547407" cy="68552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57CF9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FBB1D"/>
                </a:solidFill>
              </a:rPr>
              <a:t> </a:t>
            </a:r>
            <a:r>
              <a:t>tree </a:t>
            </a:r>
            <a:r>
              <a:rPr>
                <a:solidFill>
                  <a:srgbClr val="38C1FF"/>
                </a:solidFill>
              </a:rPr>
              <a:t>-C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t>.</a:t>
            </a:r>
            <a:endParaRPr>
              <a:solidFill>
                <a:srgbClr val="000000"/>
              </a:solidFill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</a:t>
            </a:r>
            <a:r>
              <a:rPr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bin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│   ├── </a:t>
            </a: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console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│   └── </a:t>
            </a:r>
            <a:r>
              <a:rPr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setup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CHANGELOG.md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CODE_OF_CONDUCT.md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</a:t>
            </a:r>
            <a:r>
              <a:rPr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exe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2EE721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solidFill>
                  <a:srgbClr val="000000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│   └── </a:t>
            </a:r>
            <a:r>
              <a:t>hyper_card_builder</a:t>
            </a:r>
            <a:endParaRPr>
              <a:solidFill>
                <a:srgbClr val="000000"/>
              </a:solidFill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Gemfile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Gemfile.lock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hyper_card_builder.gemspec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</a:t>
            </a:r>
            <a:r>
              <a:rPr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lib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solidFill>
                  <a:srgbClr val="000000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│   ├── </a:t>
            </a:r>
            <a:r>
              <a:t>hyper_card_builder</a:t>
            </a:r>
            <a:endParaRPr>
              <a:solidFill>
                <a:srgbClr val="000000"/>
              </a:solidFill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│   │   └── version.rb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│   └── hyper_card_builder.rb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LICENSE.txt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Rakefile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README.md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├── </a:t>
            </a:r>
            <a:r>
              <a:rPr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sig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│   └── hyper_card_builder.rbs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└── </a:t>
            </a:r>
            <a:r>
              <a:rPr>
                <a:solidFill>
                  <a:srgbClr val="5E34FF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test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 ├── test_helper.rb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 └── test_hyper_card_builder.rb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7 directories, 16 files</a:t>
            </a:r>
          </a:p>
        </p:txBody>
      </p:sp>
      <p:sp>
        <p:nvSpPr>
          <p:cNvPr id="178" name="# use scaffolding"/>
          <p:cNvSpPr txBox="1"/>
          <p:nvPr/>
        </p:nvSpPr>
        <p:spPr>
          <a:xfrm>
            <a:off x="92602" y="58933"/>
            <a:ext cx="4778500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use scaffolding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スクリーンショット 2025-11-23 8.59.36.png" descr="スクリーンショット 2025-11-23 8.59.3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7804" y="1670558"/>
            <a:ext cx="5634438" cy="3119836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# first step"/>
          <p:cNvSpPr txBox="1"/>
          <p:nvPr/>
        </p:nvSpPr>
        <p:spPr>
          <a:xfrm>
            <a:off x="380410" y="279714"/>
            <a:ext cx="3406677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first step</a:t>
            </a:r>
          </a:p>
        </p:txBody>
      </p:sp>
      <p:sp>
        <p:nvSpPr>
          <p:cNvPr id="182" name=" bundle exec exe/hyper_card_builder…"/>
          <p:cNvSpPr txBox="1"/>
          <p:nvPr/>
        </p:nvSpPr>
        <p:spPr>
          <a:xfrm>
            <a:off x="2090086" y="1860029"/>
            <a:ext cx="4645510" cy="1117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FBB1D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bundle </a:t>
            </a:r>
            <a:r>
              <a:rPr u="none"/>
              <a:t>exec </a:t>
            </a:r>
            <a:r>
              <a:t>exe/hyper_card_builder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uFill>
                  <a:solidFill>
                    <a:srgbClr val="38C1FF"/>
                  </a:solidFill>
                </a:u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solidFill>
                  <a:srgbClr val="FFBB1D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 </a:t>
            </a:r>
            <a:r>
              <a:rPr>
                <a:solidFill>
                  <a:srgbClr val="457CF9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code </a:t>
            </a:r>
            <a:r>
              <a:rPr u="sng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.</a:t>
            </a:r>
            <a:endParaRPr>
              <a:solidFill>
                <a:srgbClr val="000000"/>
              </a:solidFill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FBB1D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</a:t>
            </a:r>
            <a:r>
              <a:rPr u="sng"/>
              <a:t>exe/hyper_card_builder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Hello</a:t>
            </a:r>
          </a:p>
        </p:txBody>
      </p:sp>
      <p:sp>
        <p:nvSpPr>
          <p:cNvPr id="183" name="&gt; code hyper_card_builder.gemspec…"/>
          <p:cNvSpPr txBox="1"/>
          <p:nvPr/>
        </p:nvSpPr>
        <p:spPr>
          <a:xfrm>
            <a:off x="3994207" y="4253407"/>
            <a:ext cx="8091514" cy="26515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795E26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&gt; code hyper_card_builder.gemspec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       </a:t>
            </a:r>
            <a:r>
              <a:rPr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│ </a:t>
            </a:r>
            <a:r>
              <a:rPr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File: </a:t>
            </a:r>
            <a:r>
              <a:t>hyper_card_builder.gemspec</a:t>
            </a:r>
            <a:endParaRPr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require_relative</a:t>
            </a:r>
            <a:r>
              <a:rPr>
                <a:solidFill>
                  <a:srgbClr val="434343"/>
                </a:solidFill>
              </a:rPr>
              <a:t> </a:t>
            </a:r>
            <a:r>
              <a:t>"lib/hyper_card_builder/version"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36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spec.add_dependency </a:t>
            </a:r>
            <a:r>
              <a:rPr>
                <a:solidFill>
                  <a:srgbClr val="328026"/>
                </a:solidFill>
              </a:rPr>
              <a:t>"thor"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37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40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spec.add_development_dependency </a:t>
            </a:r>
            <a:r>
              <a:rPr>
                <a:solidFill>
                  <a:srgbClr val="328026"/>
                </a:solidFill>
              </a:rPr>
              <a:t>"minitest"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41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spec.add_development_dependency </a:t>
            </a:r>
            <a:r>
              <a:rPr>
                <a:solidFill>
                  <a:srgbClr val="328026"/>
                </a:solidFill>
              </a:rPr>
              <a:t>"minitest-reporters"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42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spec.add_development_dependency </a:t>
            </a:r>
            <a:r>
              <a:rPr>
                <a:solidFill>
                  <a:srgbClr val="328026"/>
                </a:solidFill>
              </a:rPr>
              <a:t>"minitest-hooks"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4" name=" rake test…"/>
          <p:cNvSpPr txBox="1"/>
          <p:nvPr/>
        </p:nvSpPr>
        <p:spPr>
          <a:xfrm>
            <a:off x="2164333" y="6923566"/>
            <a:ext cx="8165307" cy="254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t>rake </a:t>
            </a:r>
            <a:r>
              <a:rPr u="sng">
                <a:solidFill>
                  <a:srgbClr val="38C1FF"/>
                </a:solidFill>
              </a:rPr>
              <a:t>test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Hello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Run options: --seed 178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Running: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0.000256s, 7812.4974 runs/s, 7812.4974 assertions/s.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2 runs, 2 assertions, 0 failures, 0 errors, 0 skips</a:t>
            </a:r>
          </a:p>
        </p:txBody>
      </p:sp>
      <p:grpSp>
        <p:nvGrpSpPr>
          <p:cNvPr id="188" name="グループ"/>
          <p:cNvGrpSpPr/>
          <p:nvPr/>
        </p:nvGrpSpPr>
        <p:grpSpPr>
          <a:xfrm>
            <a:off x="333474" y="932286"/>
            <a:ext cx="9055483" cy="520701"/>
            <a:chOff x="0" y="0"/>
            <a:chExt cx="9055481" cy="520700"/>
          </a:xfrm>
        </p:grpSpPr>
        <p:sp>
          <p:nvSpPr>
            <p:cNvPr id="185" name="# chat"/>
            <p:cNvSpPr txBox="1"/>
            <p:nvPr/>
          </p:nvSpPr>
          <p:spPr>
            <a:xfrm>
              <a:off x="0" y="0"/>
              <a:ext cx="1623864" cy="520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lvl1pPr>
            </a:lstStyle>
            <a:p>
              <a:pPr/>
              <a:r>
                <a:t># chat</a:t>
              </a:r>
            </a:p>
          </p:txBody>
        </p:sp>
        <p:sp>
          <p:nvSpPr>
            <p:cNvPr id="186" name=" shell comms"/>
            <p:cNvSpPr txBox="1"/>
            <p:nvPr/>
          </p:nvSpPr>
          <p:spPr>
            <a:xfrm>
              <a:off x="1717396" y="0"/>
              <a:ext cx="3390058" cy="520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>
                  <a:solidFill>
                    <a:srgbClr val="38C1FF"/>
                  </a:solid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>
                  <a:solidFill>
                    <a:srgbClr val="FA3B1E"/>
                  </a:solidFill>
                </a:rPr>
                <a:t> </a:t>
              </a:r>
              <a:r>
                <a:rPr>
                  <a:solidFill>
                    <a:srgbClr val="457CF9"/>
                  </a:solidFill>
                </a:rPr>
                <a:t>shell comms</a:t>
              </a:r>
            </a:p>
          </p:txBody>
        </p:sp>
        <p:sp>
          <p:nvSpPr>
            <p:cNvPr id="187" name=" code edit"/>
            <p:cNvSpPr txBox="1"/>
            <p:nvPr/>
          </p:nvSpPr>
          <p:spPr>
            <a:xfrm>
              <a:off x="6168612" y="0"/>
              <a:ext cx="2886870" cy="520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 u="none">
                  <a:solidFill>
                    <a:srgbClr val="FA3B1E"/>
                  </a:solidFill>
                </a:rPr>
                <a:t> </a:t>
              </a:r>
              <a:r>
                <a:rPr u="none">
                  <a:solidFill>
                    <a:srgbClr val="457CF9"/>
                  </a:solidFill>
                </a:rPr>
                <a:t>code edit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# colorful report"/>
          <p:cNvSpPr txBox="1"/>
          <p:nvPr/>
        </p:nvSpPr>
        <p:spPr>
          <a:xfrm>
            <a:off x="312677" y="381314"/>
            <a:ext cx="4778500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colorful report</a:t>
            </a:r>
          </a:p>
        </p:txBody>
      </p:sp>
      <p:sp>
        <p:nvSpPr>
          <p:cNvPr id="191" name="# minitestの出力をcolorfullに見やすくするように修正"/>
          <p:cNvSpPr txBox="1"/>
          <p:nvPr/>
        </p:nvSpPr>
        <p:spPr>
          <a:xfrm>
            <a:off x="321627" y="4211568"/>
            <a:ext cx="5343909" cy="30914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</a:t>
            </a:r>
            <a:r>
              <a:rPr u="none">
                <a:solidFill>
                  <a:srgbClr val="FFBB1D"/>
                </a:solidFill>
              </a:rPr>
              <a:t>minitestの出力をcolorfullに見やすくするように修正</a:t>
            </a:r>
          </a:p>
        </p:txBody>
      </p:sp>
      <p:sp>
        <p:nvSpPr>
          <p:cNvPr id="192" name="GitHub Copilot: `minitest-reporters` を使ってカラフルな出力にできます。…"/>
          <p:cNvSpPr txBox="1"/>
          <p:nvPr/>
        </p:nvSpPr>
        <p:spPr>
          <a:xfrm>
            <a:off x="371314" y="4661007"/>
            <a:ext cx="6254494" cy="2463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GitHub Copilot: </a:t>
            </a:r>
            <a:r>
              <a:rPr>
                <a:solidFill>
                  <a:srgbClr val="800000"/>
                </a:solidFill>
              </a:rPr>
              <a:t>`minitest-reporters`</a:t>
            </a:r>
            <a:r>
              <a:t> を使ってカラフルな出力にできます。  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0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`test_helper.rb`</a:t>
            </a:r>
            <a:r>
              <a:rPr>
                <a:solidFill>
                  <a:srgbClr val="3B3B3B"/>
                </a:solidFill>
              </a:rPr>
              <a:t> に以下を追加してください。</a:t>
            </a:r>
            <a:endParaRPr>
              <a:solidFill>
                <a:srgbClr val="3B3B3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````ruby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008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...existing code...</a:t>
            </a:r>
            <a:endParaRPr>
              <a:solidFill>
                <a:srgbClr val="3B3B3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A31515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FF"/>
                </a:solidFill>
              </a:rPr>
              <a:t>require</a:t>
            </a:r>
            <a:r>
              <a:rPr>
                <a:solidFill>
                  <a:srgbClr val="3B3B3B"/>
                </a:solidFill>
              </a:rPr>
              <a:t> </a:t>
            </a:r>
            <a:r>
              <a:t>"minitest/reporters"</a:t>
            </a:r>
            <a:endParaRPr>
              <a:solidFill>
                <a:srgbClr val="3B3B3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267F99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Minitest::Reporters</a:t>
            </a:r>
            <a:r>
              <a:rPr>
                <a:solidFill>
                  <a:srgbClr val="3B3B3B"/>
                </a:solidFill>
              </a:rPr>
              <a:t>.</a:t>
            </a:r>
            <a:r>
              <a:rPr>
                <a:solidFill>
                  <a:srgbClr val="795E26"/>
                </a:solidFill>
              </a:rPr>
              <a:t>use!</a:t>
            </a:r>
            <a:r>
              <a:rPr>
                <a:solidFill>
                  <a:srgbClr val="3B3B3B"/>
                </a:solidFill>
              </a:rPr>
              <a:t> </a:t>
            </a:r>
            <a:r>
              <a:t>Minitest::Reporters::SpecReporter</a:t>
            </a:r>
            <a:r>
              <a:rPr>
                <a:solidFill>
                  <a:srgbClr val="3B3B3B"/>
                </a:solidFill>
              </a:rPr>
              <a:t>.</a:t>
            </a:r>
            <a:r>
              <a:rPr>
                <a:solidFill>
                  <a:srgbClr val="0000FF"/>
                </a:solidFill>
              </a:rPr>
              <a:t>new</a:t>
            </a:r>
            <a:endParaRPr>
              <a:solidFill>
                <a:srgbClr val="3B3B3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008000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# ...existing code...</a:t>
            </a:r>
            <a:endParaRPr>
              <a:solidFill>
                <a:srgbClr val="3B3B3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````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3B3B3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これで </a:t>
            </a:r>
            <a:r>
              <a:rPr>
                <a:solidFill>
                  <a:srgbClr val="800000"/>
                </a:solidFill>
              </a:rPr>
              <a:t>`rake test`</a:t>
            </a:r>
            <a:r>
              <a:t> の出力がカラフルで見やすくなります。</a:t>
            </a:r>
          </a:p>
        </p:txBody>
      </p:sp>
      <p:sp>
        <p:nvSpPr>
          <p:cNvPr id="193" name=" bundle exec rake test…"/>
          <p:cNvSpPr txBox="1"/>
          <p:nvPr/>
        </p:nvSpPr>
        <p:spPr>
          <a:xfrm>
            <a:off x="2041292" y="7140013"/>
            <a:ext cx="9926465" cy="2336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Hello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42050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TestHyperCardBuilder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test_it_does_something_useful    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test_exe_outputs_hello           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(0.06s)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test_that_it_has_a_version_number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0.06135s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3 tests, 4 assertions, </a:t>
            </a:r>
            <a:r>
              <a:rPr>
                <a:solidFill>
                  <a:srgbClr val="34BC26"/>
                </a:solidFill>
              </a:rPr>
              <a:t>0 failures, 0 errors, </a:t>
            </a:r>
            <a:r>
              <a:rPr>
                <a:solidFill>
                  <a:srgbClr val="AFAD24"/>
                </a:solidFill>
              </a:rPr>
              <a:t>0 skips</a:t>
            </a:r>
          </a:p>
        </p:txBody>
      </p:sp>
      <p:sp>
        <p:nvSpPr>
          <p:cNvPr id="194" name=" rake test…"/>
          <p:cNvSpPr txBox="1"/>
          <p:nvPr/>
        </p:nvSpPr>
        <p:spPr>
          <a:xfrm>
            <a:off x="2060588" y="1606052"/>
            <a:ext cx="8165307" cy="254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t>rake </a:t>
            </a:r>
            <a:r>
              <a:rPr u="sng">
                <a:solidFill>
                  <a:srgbClr val="38C1FF"/>
                </a:solidFill>
              </a:rPr>
              <a:t>test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Hello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Run options: --seed 178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Running: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0.000256s, 7812.4974 runs/s, 7812.4974 assertions/s.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2 runs, 2 assertions, 0 failures, 0 errors, 0 skips</a:t>
            </a:r>
          </a:p>
        </p:txBody>
      </p:sp>
      <p:grpSp>
        <p:nvGrpSpPr>
          <p:cNvPr id="198" name="グループ"/>
          <p:cNvGrpSpPr/>
          <p:nvPr/>
        </p:nvGrpSpPr>
        <p:grpSpPr>
          <a:xfrm>
            <a:off x="290905" y="1071563"/>
            <a:ext cx="9055483" cy="520701"/>
            <a:chOff x="0" y="0"/>
            <a:chExt cx="9055481" cy="520700"/>
          </a:xfrm>
        </p:grpSpPr>
        <p:sp>
          <p:nvSpPr>
            <p:cNvPr id="195" name="# chat"/>
            <p:cNvSpPr txBox="1"/>
            <p:nvPr/>
          </p:nvSpPr>
          <p:spPr>
            <a:xfrm>
              <a:off x="0" y="0"/>
              <a:ext cx="1623864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lvl1pPr>
            </a:lstStyle>
            <a:p>
              <a:pPr/>
              <a:r>
                <a:t># chat</a:t>
              </a:r>
            </a:p>
          </p:txBody>
        </p:sp>
        <p:sp>
          <p:nvSpPr>
            <p:cNvPr id="196" name=" shell comms"/>
            <p:cNvSpPr txBox="1"/>
            <p:nvPr/>
          </p:nvSpPr>
          <p:spPr>
            <a:xfrm>
              <a:off x="1717396" y="0"/>
              <a:ext cx="3390058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>
                  <a:solidFill>
                    <a:srgbClr val="38C1FF"/>
                  </a:solid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>
                  <a:solidFill>
                    <a:srgbClr val="FA3B1E"/>
                  </a:solidFill>
                </a:rPr>
                <a:t> </a:t>
              </a:r>
              <a:r>
                <a:rPr>
                  <a:solidFill>
                    <a:srgbClr val="457CF9"/>
                  </a:solidFill>
                </a:rPr>
                <a:t>shell comms</a:t>
              </a:r>
            </a:p>
          </p:txBody>
        </p:sp>
        <p:sp>
          <p:nvSpPr>
            <p:cNvPr id="197" name=" code edit"/>
            <p:cNvSpPr txBox="1"/>
            <p:nvPr/>
          </p:nvSpPr>
          <p:spPr>
            <a:xfrm>
              <a:off x="6168613" y="0"/>
              <a:ext cx="288686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 u="none">
                  <a:solidFill>
                    <a:srgbClr val="FA3B1E"/>
                  </a:solidFill>
                </a:rPr>
                <a:t> </a:t>
              </a:r>
              <a:r>
                <a:rPr u="none">
                  <a:solidFill>
                    <a:srgbClr val="457CF9"/>
                  </a:solidFill>
                </a:rPr>
                <a:t>code edit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# red, green, refact"/>
          <p:cNvSpPr txBox="1"/>
          <p:nvPr/>
        </p:nvSpPr>
        <p:spPr>
          <a:xfrm>
            <a:off x="325243" y="14506"/>
            <a:ext cx="5601594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red, green, refact</a:t>
            </a:r>
          </a:p>
        </p:txBody>
      </p:sp>
      <p:sp>
        <p:nvSpPr>
          <p:cNvPr id="201" name="# bundle exec exe/hyper_card_builder…"/>
          <p:cNvSpPr txBox="1"/>
          <p:nvPr/>
        </p:nvSpPr>
        <p:spPr>
          <a:xfrm>
            <a:off x="373686" y="1120830"/>
            <a:ext cx="4768789" cy="51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bundle exec exe/hyper_card_builder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helloで"Hello."と返るテストを作成．</a:t>
            </a:r>
          </a:p>
        </p:txBody>
      </p:sp>
      <p:sp>
        <p:nvSpPr>
          <p:cNvPr id="202" name=" bat test/test_hyper_card_builder.rb…"/>
          <p:cNvSpPr txBox="1"/>
          <p:nvPr/>
        </p:nvSpPr>
        <p:spPr>
          <a:xfrm>
            <a:off x="7013317" y="1179323"/>
            <a:ext cx="7662120" cy="308839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test/test_hyper_card_builder.rb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"test_helper"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4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class</a:t>
            </a:r>
            <a:r>
              <a:t> TestHyperCardBuilderTest &lt; 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Minitest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::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Test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test_exe_hello_outputs_hello_dot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"open3"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output, status </a:t>
            </a:r>
            <a:r>
              <a:rPr>
                <a:solidFill>
                  <a:srgbClr val="CD7923"/>
                </a:solidFill>
              </a:rPr>
              <a:t>=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D23BD0"/>
                </a:solidFill>
              </a:rPr>
              <a:t>Open3</a:t>
            </a:r>
            <a:r>
              <a:rPr>
                <a:solidFill>
                  <a:srgbClr val="434343"/>
                </a:solidFill>
              </a:rPr>
              <a:t>.capture2(</a:t>
            </a:r>
            <a:endParaRPr>
              <a:solidFill>
                <a:srgbClr val="434343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434343"/>
                </a:solidFill>
              </a:rPr>
              <a:t>                 </a:t>
            </a:r>
            <a:r>
              <a:t>"bundle exec exe/hyper_card_builder hell</a:t>
            </a:r>
            <a:r>
              <a:t>o"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assert_equal </a:t>
            </a:r>
            <a:r>
              <a:rPr>
                <a:solidFill>
                  <a:srgbClr val="328026"/>
                </a:solidFill>
              </a:rPr>
              <a:t>"Hello.</a:t>
            </a:r>
            <a:r>
              <a:rPr>
                <a:solidFill>
                  <a:srgbClr val="D23BD0"/>
                </a:solidFill>
              </a:rPr>
              <a:t>\n</a:t>
            </a:r>
            <a:r>
              <a:rPr>
                <a:solidFill>
                  <a:srgbClr val="328026"/>
                </a:solidFill>
              </a:rPr>
              <a:t>"</a:t>
            </a:r>
            <a:r>
              <a:t>, output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10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 status.success?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11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3" name=" bundle exec rake test…"/>
          <p:cNvSpPr txBox="1"/>
          <p:nvPr/>
        </p:nvSpPr>
        <p:spPr>
          <a:xfrm>
            <a:off x="1941122" y="1758320"/>
            <a:ext cx="5523571" cy="19304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TestHyperCardBuilderTest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test_it_does_something_useful</a:t>
            </a:r>
            <a:r>
              <a:rPr>
                <a:solidFill>
                  <a:srgbClr val="34BC26"/>
                </a:solidFill>
              </a:rPr>
              <a:t>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0.12164s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4 tests, 5 assertions,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C33720"/>
                </a:solidFill>
              </a:rPr>
              <a:t>1 failures, 0 errors, </a:t>
            </a:r>
            <a:r>
              <a:rPr>
                <a:solidFill>
                  <a:srgbClr val="AFAD24"/>
                </a:solidFill>
              </a:rPr>
              <a:t>0 skips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rake aborted!</a:t>
            </a:r>
          </a:p>
        </p:txBody>
      </p:sp>
      <p:sp>
        <p:nvSpPr>
          <p:cNvPr id="204" name=" bundle exec rake test…"/>
          <p:cNvSpPr txBox="1"/>
          <p:nvPr/>
        </p:nvSpPr>
        <p:spPr>
          <a:xfrm>
            <a:off x="1960172" y="4318867"/>
            <a:ext cx="5008177" cy="1117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/Users/bob/.rbenv/versions/3.4.4/lib/ruby/3.4.0/bundled_gems.rb:82:in 'Kernel.require': 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cannot load such file -- thor (</a:t>
            </a:r>
            <a:r>
              <a:rPr u="sng"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LoadError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)</a:t>
            </a:r>
          </a:p>
        </p:txBody>
      </p:sp>
      <p:sp>
        <p:nvSpPr>
          <p:cNvPr id="205" name=" bat lib/hyper_card_builder.rb…"/>
          <p:cNvSpPr txBox="1"/>
          <p:nvPr/>
        </p:nvSpPr>
        <p:spPr>
          <a:xfrm>
            <a:off x="7038196" y="4351261"/>
            <a:ext cx="6959341" cy="35810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lib/hyper_card_builder.rb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require_relative</a:t>
            </a:r>
            <a:r>
              <a:rPr>
                <a:solidFill>
                  <a:srgbClr val="434343"/>
                </a:solidFill>
              </a:rPr>
              <a:t> </a:t>
            </a:r>
            <a:r>
              <a:t>"hyper_card_builder/version"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34BC26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"thor"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5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6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module</a:t>
            </a:r>
            <a:r>
              <a:rPr>
                <a:solidFill>
                  <a:srgbClr val="434343"/>
                </a:solidFill>
              </a:rPr>
              <a:t> </a:t>
            </a:r>
            <a:r>
              <a:t>HyperCardBuilder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7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class</a:t>
            </a:r>
            <a:r>
              <a:rPr>
                <a:solidFill>
                  <a:srgbClr val="434343"/>
                </a:solidFill>
              </a:rPr>
              <a:t> Error &lt; 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StandardError</a:t>
            </a:r>
            <a:r>
              <a:rPr>
                <a:solidFill>
                  <a:srgbClr val="434343"/>
                </a:solidFill>
              </a:rPr>
              <a:t>;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</a:t>
            </a:r>
            <a:r>
              <a:rPr>
                <a:solidFill>
                  <a:srgbClr val="CD7923"/>
                </a:solidFill>
              </a:rPr>
              <a:t>class</a:t>
            </a:r>
            <a:r>
              <a:t> CLI &lt; 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Thor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10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desc </a:t>
            </a:r>
            <a:r>
              <a:t>"hello"</a:t>
            </a:r>
            <a:r>
              <a:rPr>
                <a:solidFill>
                  <a:srgbClr val="434343"/>
                </a:solidFill>
              </a:rPr>
              <a:t>, </a:t>
            </a:r>
            <a:r>
              <a:t>"Prints Hello."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11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hello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12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</a:t>
            </a:r>
            <a:r>
              <a:rPr>
                <a:solidFill>
                  <a:srgbClr val="D23BD0"/>
                </a:solidFill>
              </a:rPr>
              <a:t>puts</a:t>
            </a:r>
            <a:r>
              <a:rPr>
                <a:solidFill>
                  <a:srgbClr val="434343"/>
                </a:solidFill>
              </a:rPr>
              <a:t> </a:t>
            </a:r>
            <a:r>
              <a:t>"Hello."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13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15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end</a:t>
            </a:r>
          </a:p>
        </p:txBody>
      </p:sp>
      <p:sp>
        <p:nvSpPr>
          <p:cNvPr id="206" name=" bundle exec rake test…"/>
          <p:cNvSpPr txBox="1"/>
          <p:nvPr/>
        </p:nvSpPr>
        <p:spPr>
          <a:xfrm>
            <a:off x="1932839" y="7647514"/>
            <a:ext cx="6655744" cy="2133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27872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TestHyperCardBuilderTest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test_it_does_something_useful    </a:t>
            </a:r>
            <a:r>
              <a:rPr>
                <a:solidFill>
                  <a:srgbClr val="34BC26"/>
                </a:solidFill>
              </a:rPr>
              <a:t>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test_that_it_has_a_version_number</a:t>
            </a:r>
            <a:r>
              <a:rPr>
                <a:solidFill>
                  <a:srgbClr val="34BC26"/>
                </a:solidFill>
              </a:rPr>
              <a:t>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test_exe_hello_outputs_hello_dot </a:t>
            </a:r>
            <a:r>
              <a:rPr>
                <a:solidFill>
                  <a:srgbClr val="34BC26"/>
                </a:solidFill>
              </a:rPr>
              <a:t>PASS</a:t>
            </a:r>
            <a:r>
              <a:t> (0.06s)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0.06452s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3 tests, 4 assertions, </a:t>
            </a:r>
            <a:r>
              <a:rPr>
                <a:solidFill>
                  <a:srgbClr val="34BC26"/>
                </a:solidFill>
              </a:rPr>
              <a:t>0 failures, 0 errors, </a:t>
            </a:r>
            <a:r>
              <a:rPr>
                <a:solidFill>
                  <a:srgbClr val="AFAD24"/>
                </a:solidFill>
              </a:rPr>
              <a:t>0 skips</a:t>
            </a:r>
          </a:p>
        </p:txBody>
      </p:sp>
      <p:sp>
        <p:nvSpPr>
          <p:cNvPr id="207" name=" bat hyper_card_builder.gemspec…"/>
          <p:cNvSpPr txBox="1"/>
          <p:nvPr/>
        </p:nvSpPr>
        <p:spPr>
          <a:xfrm>
            <a:off x="1279522" y="5569554"/>
            <a:ext cx="5327229" cy="5232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bat </a:t>
            </a:r>
            <a:r>
              <a:t>hyper_card_builder.gemspec</a:t>
            </a:r>
            <a:endParaRPr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spec.add_dependency </a:t>
            </a:r>
            <a:r>
              <a:rPr>
                <a:solidFill>
                  <a:srgbClr val="328026"/>
                </a:solidFill>
              </a:rPr>
              <a:t>"thor"</a:t>
            </a:r>
          </a:p>
        </p:txBody>
      </p:sp>
      <p:sp>
        <p:nvSpPr>
          <p:cNvPr id="208" name=" bundle update…"/>
          <p:cNvSpPr txBox="1"/>
          <p:nvPr/>
        </p:nvSpPr>
        <p:spPr>
          <a:xfrm>
            <a:off x="2065547" y="6225858"/>
            <a:ext cx="6026759" cy="1117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57CF9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t>bundle </a:t>
            </a:r>
            <a:r>
              <a:rPr>
                <a:solidFill>
                  <a:srgbClr val="38C1FF"/>
                </a:solidFill>
              </a:rPr>
              <a:t>update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Fetching gem metadata from https://rubygems....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Resolving dependencies...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4BC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Bundle updated!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9" name="# Thorを使ってcommand cliでhelloを受け取るように修正"/>
          <p:cNvSpPr txBox="1"/>
          <p:nvPr/>
        </p:nvSpPr>
        <p:spPr>
          <a:xfrm>
            <a:off x="358735" y="3774944"/>
            <a:ext cx="5534610" cy="30924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lvl1pPr>
          </a:lstStyle>
          <a:p>
            <a:pPr/>
            <a:r>
              <a:t># Thorを使ってcommand cliでhelloを受け取るように修正</a:t>
            </a:r>
          </a:p>
        </p:txBody>
      </p:sp>
      <p:sp>
        <p:nvSpPr>
          <p:cNvPr id="210" name="# ThorのCLIが起動するように修正．"/>
          <p:cNvSpPr txBox="1"/>
          <p:nvPr/>
        </p:nvSpPr>
        <p:spPr>
          <a:xfrm>
            <a:off x="410509" y="7209628"/>
            <a:ext cx="3380074" cy="30924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lvl1pPr>
          </a:lstStyle>
          <a:p>
            <a:pPr/>
            <a:r>
              <a:t># ThorのCLIが起動するように修正．</a:t>
            </a:r>
          </a:p>
        </p:txBody>
      </p:sp>
      <p:sp>
        <p:nvSpPr>
          <p:cNvPr id="211" name=" bat exe/hyper_card_builder…"/>
          <p:cNvSpPr txBox="1"/>
          <p:nvPr/>
        </p:nvSpPr>
        <p:spPr>
          <a:xfrm>
            <a:off x="7056676" y="8015870"/>
            <a:ext cx="5449777" cy="13968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exe/hyper_card_builder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#!/usr/bin/env ruby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"hyper_card_builder"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34BC26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D23BD0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34BC26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HyperCardBuilder</a:t>
            </a:r>
            <a:r>
              <a:rPr>
                <a:solidFill>
                  <a:srgbClr val="434343"/>
                </a:solidFill>
              </a:rPr>
              <a:t>::</a:t>
            </a:r>
            <a:r>
              <a:t>CLI</a:t>
            </a:r>
            <a:r>
              <a:rPr>
                <a:solidFill>
                  <a:srgbClr val="434343"/>
                </a:solidFill>
              </a:rPr>
              <a:t>.start(</a:t>
            </a:r>
            <a:r>
              <a:rPr>
                <a:solidFill>
                  <a:srgbClr val="377EA8"/>
                </a:solidFill>
              </a:rPr>
              <a:t>ARGV</a:t>
            </a:r>
            <a:r>
              <a:rPr>
                <a:solidFill>
                  <a:srgbClr val="434343"/>
                </a:solidFill>
              </a:rPr>
              <a:t>)</a:t>
            </a:r>
          </a:p>
        </p:txBody>
      </p:sp>
      <p:grpSp>
        <p:nvGrpSpPr>
          <p:cNvPr id="215" name="グループ"/>
          <p:cNvGrpSpPr/>
          <p:nvPr/>
        </p:nvGrpSpPr>
        <p:grpSpPr>
          <a:xfrm>
            <a:off x="175166" y="607472"/>
            <a:ext cx="9055482" cy="520701"/>
            <a:chOff x="0" y="0"/>
            <a:chExt cx="9055481" cy="520700"/>
          </a:xfrm>
        </p:grpSpPr>
        <p:sp>
          <p:nvSpPr>
            <p:cNvPr id="212" name="# chat"/>
            <p:cNvSpPr txBox="1"/>
            <p:nvPr/>
          </p:nvSpPr>
          <p:spPr>
            <a:xfrm>
              <a:off x="0" y="0"/>
              <a:ext cx="1623864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lvl1pPr>
            </a:lstStyle>
            <a:p>
              <a:pPr/>
              <a:r>
                <a:t># chat</a:t>
              </a:r>
            </a:p>
          </p:txBody>
        </p:sp>
        <p:sp>
          <p:nvSpPr>
            <p:cNvPr id="213" name=" shell comms"/>
            <p:cNvSpPr txBox="1"/>
            <p:nvPr/>
          </p:nvSpPr>
          <p:spPr>
            <a:xfrm>
              <a:off x="1717396" y="0"/>
              <a:ext cx="3390058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>
                  <a:solidFill>
                    <a:srgbClr val="38C1FF"/>
                  </a:solid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>
                  <a:solidFill>
                    <a:srgbClr val="FA3B1E"/>
                  </a:solidFill>
                </a:rPr>
                <a:t> </a:t>
              </a:r>
              <a:r>
                <a:rPr>
                  <a:solidFill>
                    <a:srgbClr val="457CF9"/>
                  </a:solidFill>
                </a:rPr>
                <a:t>shell comms</a:t>
              </a:r>
            </a:p>
          </p:txBody>
        </p:sp>
        <p:sp>
          <p:nvSpPr>
            <p:cNvPr id="214" name=" code edit"/>
            <p:cNvSpPr txBox="1"/>
            <p:nvPr/>
          </p:nvSpPr>
          <p:spPr>
            <a:xfrm>
              <a:off x="6168613" y="0"/>
              <a:ext cx="288686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 u="none">
                  <a:solidFill>
                    <a:srgbClr val="FA3B1E"/>
                  </a:solidFill>
                </a:rPr>
                <a:t> </a:t>
              </a:r>
              <a:r>
                <a:rPr u="none">
                  <a:solidFill>
                    <a:srgbClr val="457CF9"/>
                  </a:solidFill>
                </a:rPr>
                <a:t>code edit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グループ"/>
          <p:cNvGrpSpPr/>
          <p:nvPr/>
        </p:nvGrpSpPr>
        <p:grpSpPr>
          <a:xfrm>
            <a:off x="227094" y="735179"/>
            <a:ext cx="9055483" cy="520701"/>
            <a:chOff x="0" y="0"/>
            <a:chExt cx="9055481" cy="520700"/>
          </a:xfrm>
        </p:grpSpPr>
        <p:sp>
          <p:nvSpPr>
            <p:cNvPr id="217" name="# chat"/>
            <p:cNvSpPr txBox="1"/>
            <p:nvPr/>
          </p:nvSpPr>
          <p:spPr>
            <a:xfrm>
              <a:off x="0" y="0"/>
              <a:ext cx="1623864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lvl1pPr>
            </a:lstStyle>
            <a:p>
              <a:pPr/>
              <a:r>
                <a:t># chat</a:t>
              </a:r>
            </a:p>
          </p:txBody>
        </p:sp>
        <p:sp>
          <p:nvSpPr>
            <p:cNvPr id="218" name=" shell comms"/>
            <p:cNvSpPr txBox="1"/>
            <p:nvPr/>
          </p:nvSpPr>
          <p:spPr>
            <a:xfrm>
              <a:off x="1717396" y="0"/>
              <a:ext cx="3390058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>
                  <a:solidFill>
                    <a:srgbClr val="38C1FF"/>
                  </a:solid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>
                  <a:solidFill>
                    <a:srgbClr val="FA3B1E"/>
                  </a:solidFill>
                </a:rPr>
                <a:t> </a:t>
              </a:r>
              <a:r>
                <a:rPr>
                  <a:solidFill>
                    <a:srgbClr val="457CF9"/>
                  </a:solidFill>
                </a:rPr>
                <a:t>shell comms</a:t>
              </a:r>
            </a:p>
          </p:txBody>
        </p:sp>
        <p:sp>
          <p:nvSpPr>
            <p:cNvPr id="219" name=" code edit"/>
            <p:cNvSpPr txBox="1"/>
            <p:nvPr/>
          </p:nvSpPr>
          <p:spPr>
            <a:xfrm>
              <a:off x="6168613" y="0"/>
              <a:ext cx="2886869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635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12700">
                <a:lnSpc>
                  <a:spcPct val="100000"/>
                </a:lnSpc>
                <a:spcBef>
                  <a:spcPts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800" u="sng">
                  <a:solidFill>
                    <a:srgbClr val="38C1FF"/>
                  </a:solidFill>
                  <a:uFill>
                    <a:solidFill>
                      <a:srgbClr val="38C1FF"/>
                    </a:solidFill>
                  </a:uFill>
                  <a:latin typeface="Roboto Mono Medium Nerd Font Complete Mono"/>
                  <a:ea typeface="Roboto Mono Medium Nerd Font Complete Mono"/>
                  <a:cs typeface="Roboto Mono Medium Nerd Font Complete Mono"/>
                  <a:sym typeface="Roboto Mono Medium Nerd Font Complete Mono"/>
                </a:defRPr>
              </a:pPr>
              <a:r>
                <a:rPr u="none">
                  <a:solidFill>
                    <a:srgbClr val="FA3B1E"/>
                  </a:solidFill>
                </a:rPr>
                <a:t> </a:t>
              </a:r>
              <a:r>
                <a:rPr u="none">
                  <a:solidFill>
                    <a:srgbClr val="457CF9"/>
                  </a:solidFill>
                </a:rPr>
                <a:t>code edit</a:t>
              </a:r>
            </a:p>
          </p:txBody>
        </p:sp>
      </p:grpSp>
      <p:sp>
        <p:nvSpPr>
          <p:cNvPr id="221" name=" bat lib/hyper_card_builder.rb…"/>
          <p:cNvSpPr txBox="1"/>
          <p:nvPr/>
        </p:nvSpPr>
        <p:spPr>
          <a:xfrm>
            <a:off x="6298061" y="4061781"/>
            <a:ext cx="7462529" cy="13816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lib/hyper_card_builder.rb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desc </a:t>
            </a:r>
            <a:r>
              <a:t>"puts_hc_array"</a:t>
            </a:r>
            <a:r>
              <a:rPr>
                <a:solidFill>
                  <a:srgbClr val="434343"/>
                </a:solidFill>
              </a:rPr>
              <a:t>, </a:t>
            </a:r>
            <a:r>
              <a:t>"Outputs hc_array.yaml"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puts_hc_array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hc_array </a:t>
            </a:r>
            <a:r>
              <a:rPr>
                <a:solidFill>
                  <a:srgbClr val="CD7923"/>
                </a:solidFill>
              </a:rPr>
              <a:t>=</a:t>
            </a:r>
            <a:r>
              <a:t> {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  </a:t>
            </a:r>
            <a:r>
              <a:rPr>
                <a:solidFill>
                  <a:srgbClr val="377EA8"/>
                </a:solidFill>
              </a:rPr>
              <a:t>source_file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"./linux_basic.pdf"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2" name="# puts_sample_yaml"/>
          <p:cNvSpPr txBox="1"/>
          <p:nvPr/>
        </p:nvSpPr>
        <p:spPr>
          <a:xfrm>
            <a:off x="261390" y="-138131"/>
            <a:ext cx="5052864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puts_sample_yaml</a:t>
            </a:r>
          </a:p>
        </p:txBody>
      </p:sp>
      <p:sp>
        <p:nvSpPr>
          <p:cNvPr id="223" name="# hyper_card_builder puts_hc_arrayでhc_array.yamlを出力するテストを作成．"/>
          <p:cNvSpPr txBox="1"/>
          <p:nvPr/>
        </p:nvSpPr>
        <p:spPr>
          <a:xfrm>
            <a:off x="357015" y="1133299"/>
            <a:ext cx="8327490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lvl1pPr>
          </a:lstStyle>
          <a:p>
            <a:pPr/>
            <a:r>
              <a:t># hyper_card_builder puts_hc_arrayでhc_array.yamlを出力するテストを作成．</a:t>
            </a:r>
          </a:p>
        </p:txBody>
      </p:sp>
      <p:sp>
        <p:nvSpPr>
          <p:cNvPr id="224" name=" bat test/test_hc_array_yaml.rb…"/>
          <p:cNvSpPr txBox="1"/>
          <p:nvPr/>
        </p:nvSpPr>
        <p:spPr>
          <a:xfrm>
            <a:off x="6369217" y="1500409"/>
            <a:ext cx="5323980" cy="17931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test/test_hc_array_yaml.rb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rPr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       </a:t>
            </a:r>
            <a:r>
              <a:rPr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│ </a:t>
            </a:r>
            <a:r>
              <a:rPr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rPr>
              <a:t>File: </a:t>
            </a:r>
            <a:r>
              <a:t>test/test_hc_array_yaml.rb</a:t>
            </a:r>
            <a:endParaRPr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"test_helper"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"fileutils"</a:t>
            </a:r>
            <a:endParaRPr>
              <a:solidFill>
                <a:srgbClr val="00000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AF00D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/>
                </a:solidFill>
              </a:rPr>
              <a:t>...</a:t>
            </a:r>
          </a:p>
        </p:txBody>
      </p:sp>
      <p:sp>
        <p:nvSpPr>
          <p:cNvPr id="225" name=" bundle exec rake test…"/>
          <p:cNvSpPr txBox="1"/>
          <p:nvPr/>
        </p:nvSpPr>
        <p:spPr>
          <a:xfrm>
            <a:off x="2244644" y="2193363"/>
            <a:ext cx="5020383" cy="1117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7229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TestHcArrayYaml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Could not find command "puts_hc_array".</a:t>
            </a:r>
          </a:p>
        </p:txBody>
      </p:sp>
      <p:sp>
        <p:nvSpPr>
          <p:cNvPr id="226" name=" bundle exec rake test…"/>
          <p:cNvSpPr txBox="1"/>
          <p:nvPr/>
        </p:nvSpPr>
        <p:spPr>
          <a:xfrm>
            <a:off x="2052079" y="7487320"/>
            <a:ext cx="9926465" cy="29464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33318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TestHyperCardBuilderTest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test_that_it_has_a_version_number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test_it_does_something_useful    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test_exe_hello_outputs_hello_dot  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(0.07s)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TestHcArrayYaml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test_puts_hc_array_outputs_expected_yaml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(0.07s)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0.13971s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4 tests, 7 assertions, </a:t>
            </a:r>
            <a:r>
              <a:rPr>
                <a:solidFill>
                  <a:srgbClr val="34BC26"/>
                </a:solidFill>
              </a:rPr>
              <a:t>0 failures, 0 errors, </a:t>
            </a:r>
            <a:r>
              <a:rPr>
                <a:solidFill>
                  <a:srgbClr val="AFAD24"/>
                </a:solidFill>
              </a:rPr>
              <a:t>0 skips</a:t>
            </a:r>
          </a:p>
        </p:txBody>
      </p:sp>
      <p:sp>
        <p:nvSpPr>
          <p:cNvPr id="227" name="# Could not find command &quot;puts_hc_array&quot;.…"/>
          <p:cNvSpPr txBox="1"/>
          <p:nvPr/>
        </p:nvSpPr>
        <p:spPr>
          <a:xfrm>
            <a:off x="388663" y="3480354"/>
            <a:ext cx="5271977" cy="77914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# Could not find command "puts_hc_array".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なので，hyper_card_builder.rbが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そのコマンドを受け付けるように修正</a:t>
            </a:r>
          </a:p>
        </p:txBody>
      </p:sp>
      <p:sp>
        <p:nvSpPr>
          <p:cNvPr id="228" name="# ...を修正"/>
          <p:cNvSpPr txBox="1"/>
          <p:nvPr/>
        </p:nvSpPr>
        <p:spPr>
          <a:xfrm>
            <a:off x="492460" y="6751073"/>
            <a:ext cx="1276686" cy="30924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lvl1pPr>
          </a:lstStyle>
          <a:p>
            <a:pPr/>
            <a:r>
              <a:t># ...を修正</a:t>
            </a:r>
          </a:p>
        </p:txBody>
      </p:sp>
      <p:sp>
        <p:nvSpPr>
          <p:cNvPr id="229" name=" bat lib/hyper_card_builder.rb…"/>
          <p:cNvSpPr txBox="1"/>
          <p:nvPr/>
        </p:nvSpPr>
        <p:spPr>
          <a:xfrm>
            <a:off x="6452186" y="6930153"/>
            <a:ext cx="4096222" cy="7450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lib/hyper_card_builder.rb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34BC26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"thor"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34BC26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"yaml"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# ← 追加</a:t>
            </a:r>
          </a:p>
        </p:txBody>
      </p:sp>
      <p:sp>
        <p:nvSpPr>
          <p:cNvPr id="230" name=" bundle exec rake test…"/>
          <p:cNvSpPr txBox="1"/>
          <p:nvPr/>
        </p:nvSpPr>
        <p:spPr>
          <a:xfrm>
            <a:off x="2195092" y="4428891"/>
            <a:ext cx="10178059" cy="2540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8C1FF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FA3B1E"/>
                </a:solidFill>
              </a:rPr>
              <a:t> </a:t>
            </a:r>
            <a:r>
              <a:rPr>
                <a:solidFill>
                  <a:srgbClr val="457CF9"/>
                </a:solidFill>
              </a:rPr>
              <a:t>bundle </a:t>
            </a:r>
            <a:r>
              <a:t>exec rake </a:t>
            </a:r>
            <a:r>
              <a:rPr u="sng">
                <a:uFill>
                  <a:solidFill>
                    <a:srgbClr val="38C1FF"/>
                  </a:solidFill>
                </a:uFill>
              </a:rPr>
              <a:t>test</a:t>
            </a:r>
            <a:endParaRPr>
              <a:solidFill>
                <a:srgbClr val="000000"/>
              </a:solidFill>
              <a:uFill>
                <a:solidFill>
                  <a:srgbClr val="38C1FF"/>
                </a:solidFill>
              </a:u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59575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TestHcArrayYaml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bundler: failed to load command: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exe/hyper_card_builder (exe/hyper_card_builder)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/Users/bob/git_hub/hyper_card_builder/lib/hyper_card_builder.rb:26:in 'block in HyperCardBuilder::CLI#puts_hc_array':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undefined method 'to_yaml' for an instance of Hash (</a:t>
            </a:r>
            <a:r>
              <a:rPr u="sng"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NoMethodError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t>      File.open("hc_array.yaml", "w") { |f| f.write(hc_array.to_yaml) }</a:t>
            </a:r>
            <a:endParaRPr>
              <a:latin typeface="Roboto Mono Medium Nerd Font Complete Mono"/>
              <a:ea typeface="Roboto Mono Medium Nerd Font Complete Mono"/>
              <a:cs typeface="Roboto Mono Medium Nerd Font Complete Mono"/>
              <a:sym typeface="Roboto Mono Medium Nerd Font Complete Mono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defRPr>
            </a:pPr>
            <a:r>
              <a:t>                                                            ^^^^^^^^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 bat test/test_hc_array_yaml.rb…"/>
          <p:cNvSpPr txBox="1"/>
          <p:nvPr/>
        </p:nvSpPr>
        <p:spPr>
          <a:xfrm>
            <a:off x="63965" y="74072"/>
            <a:ext cx="12242813" cy="960545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test/test_hc_array_yaml.rb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"test_helper"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"fileutils"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7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class</a:t>
            </a:r>
            <a:r>
              <a:t> TestHcArrayYaml &lt; 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Minitest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::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Test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8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GENERATED_FILE </a:t>
            </a:r>
            <a:r>
              <a:rPr>
                <a:solidFill>
                  <a:srgbClr val="CD7923"/>
                </a:solidFill>
              </a:rPr>
              <a:t>=</a:t>
            </a:r>
            <a:r>
              <a:t> </a:t>
            </a:r>
            <a:r>
              <a:rPr>
                <a:solidFill>
                  <a:srgbClr val="328026"/>
                </a:solidFill>
              </a:rPr>
              <a:t>"hc_array.yaml"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EXPECTED_YAML </a:t>
            </a:r>
            <a:r>
              <a:rPr>
                <a:solidFill>
                  <a:srgbClr val="CD7923"/>
                </a:solidFill>
              </a:rPr>
              <a:t>=</a:t>
            </a:r>
            <a:r>
              <a:t> {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source_file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"./linux_basic.pdf"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11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target_dir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toc</a:t>
            </a:r>
            <a:r>
              <a:rPr>
                <a:solidFill>
                  <a:srgbClr val="434343"/>
                </a:solidFill>
              </a:rPr>
              <a:t>: [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1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"title"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"s0"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2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rPr>
                <a:solidFill>
                  <a:srgbClr val="434343"/>
                </a:solidFill>
              </a:rPr>
              <a:t>: </a:t>
            </a:r>
            <a:r>
              <a:t>"commands"</a:t>
            </a:r>
            <a:r>
              <a:rPr>
                <a:solidFill>
                  <a:srgbClr val="434343"/>
                </a:solidFill>
              </a:rP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"sf"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"summary"</a:t>
            </a:r>
            <a:r>
              <a:rPr>
                <a:solidFill>
                  <a:srgbClr val="434343"/>
                </a:solidFill>
              </a:rPr>
              <a:t>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16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]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17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18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setup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D23BD0"/>
                </a:solidFill>
              </a:rPr>
              <a:t>FileUtils</a:t>
            </a:r>
            <a:r>
              <a:rPr>
                <a:solidFill>
                  <a:srgbClr val="434343"/>
                </a:solidFill>
              </a:rPr>
              <a:t>.rm_f(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teardown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D23BD0"/>
                </a:solidFill>
              </a:rPr>
              <a:t>FileUtils</a:t>
            </a:r>
            <a:r>
              <a:rPr>
                <a:solidFill>
                  <a:srgbClr val="434343"/>
                </a:solidFill>
              </a:rPr>
              <a:t>.rm_f(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25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27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test_puts_hc_array_outputs_expected_yaml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28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"open3"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output, status </a:t>
            </a:r>
            <a:r>
              <a:rPr>
                <a:solidFill>
                  <a:srgbClr val="CD7923"/>
                </a:solidFill>
              </a:rPr>
              <a:t>=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D23BD0"/>
                </a:solidFill>
              </a:rPr>
              <a:t>Open3</a:t>
            </a:r>
            <a:r>
              <a:rPr>
                <a:solidFill>
                  <a:srgbClr val="434343"/>
                </a:solidFill>
              </a:rPr>
              <a:t>.capture2(</a:t>
            </a:r>
            <a:r>
              <a:t>"bundle exec exe/hyper_card_builder puts</a:t>
            </a:r>
            <a:r>
              <a:rPr>
                <a:solidFill>
                  <a:srgbClr val="000000"/>
                </a:solidFill>
              </a:rPr>
              <a:t> </a:t>
            </a:r>
            <a:r>
              <a:t>hc_array"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 status.success?, </a:t>
            </a:r>
            <a:r>
              <a:rPr>
                <a:solidFill>
                  <a:srgbClr val="328026"/>
                </a:solidFill>
              </a:rPr>
              <a:t>"Command failed: </a:t>
            </a:r>
            <a:r>
              <a:t>#{output}</a:t>
            </a:r>
            <a:r>
              <a:rPr>
                <a:solidFill>
                  <a:srgbClr val="328026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32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assert </a:t>
            </a:r>
            <a:r>
              <a:rPr>
                <a:solidFill>
                  <a:srgbClr val="D23BD0"/>
                </a:solidFill>
              </a:rPr>
              <a:t>File</a:t>
            </a:r>
            <a:r>
              <a:rPr>
                <a:solidFill>
                  <a:srgbClr val="434343"/>
                </a:solidFill>
              </a:rPr>
              <a:t>.exist?(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), </a:t>
            </a:r>
            <a:r>
              <a:rPr>
                <a:solidFill>
                  <a:srgbClr val="328026"/>
                </a:solidFill>
              </a:rPr>
              <a:t>"Expected </a:t>
            </a:r>
            <a:r>
              <a:rPr>
                <a:solidFill>
                  <a:srgbClr val="434343"/>
                </a:solidFill>
              </a:rPr>
              <a:t>#{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}</a:t>
            </a:r>
            <a:r>
              <a:rPr>
                <a:solidFill>
                  <a:srgbClr val="328026"/>
                </a:solidFill>
              </a:rPr>
              <a:t> to be ge</a:t>
            </a:r>
            <a:r>
              <a:t>nerated"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33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actual_yaml </a:t>
            </a:r>
            <a:r>
              <a:rPr>
                <a:solidFill>
                  <a:srgbClr val="CD7923"/>
                </a:solidFill>
              </a:rPr>
              <a:t>=</a:t>
            </a:r>
            <a:r>
              <a:t> </a:t>
            </a:r>
            <a:r>
              <a:rPr>
                <a:solidFill>
                  <a:srgbClr val="D23BD0"/>
                </a:solidFill>
              </a:rPr>
              <a:t>YAML</a:t>
            </a:r>
            <a:r>
              <a:t>.load_file(</a:t>
            </a:r>
            <a:r>
              <a:rPr>
                <a:solidFill>
                  <a:srgbClr val="377EA8"/>
                </a:solidFill>
              </a:rPr>
              <a:t>GENERATED_FILE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assert_equal </a:t>
            </a:r>
            <a:r>
              <a:rPr>
                <a:solidFill>
                  <a:srgbClr val="377EA8"/>
                </a:solidFill>
              </a:rPr>
              <a:t>EXPECTED_YAML</a:t>
            </a:r>
            <a:r>
              <a:t>, actual_yaml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37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end</a:t>
            </a:r>
          </a:p>
        </p:txBody>
      </p:sp>
      <p:sp>
        <p:nvSpPr>
          <p:cNvPr id="233" name=" bat lib/hyper_card_builder.rb…"/>
          <p:cNvSpPr txBox="1"/>
          <p:nvPr/>
        </p:nvSpPr>
        <p:spPr>
          <a:xfrm>
            <a:off x="4148331" y="2107900"/>
            <a:ext cx="8846295" cy="35658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lib/hyper_card_builder.rb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desc </a:t>
            </a:r>
            <a:r>
              <a:t>"puts_hc_array"</a:t>
            </a:r>
            <a:r>
              <a:rPr>
                <a:solidFill>
                  <a:srgbClr val="434343"/>
                </a:solidFill>
              </a:rPr>
              <a:t>, </a:t>
            </a:r>
            <a:r>
              <a:t>"Outputs hc_array.yaml"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puts_hc_array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hc_array </a:t>
            </a:r>
            <a:r>
              <a:rPr>
                <a:solidFill>
                  <a:srgbClr val="CD7923"/>
                </a:solidFill>
              </a:rPr>
              <a:t>=</a:t>
            </a:r>
            <a:r>
              <a:t> {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  </a:t>
            </a:r>
            <a:r>
              <a:rPr>
                <a:solidFill>
                  <a:srgbClr val="377EA8"/>
                </a:solidFill>
              </a:rPr>
              <a:t>source_file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"./linux_basic.pdf"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20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  </a:t>
            </a:r>
            <a:r>
              <a:rPr>
                <a:solidFill>
                  <a:srgbClr val="377EA8"/>
                </a:solidFill>
              </a:rPr>
              <a:t>target_dir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21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</a:t>
            </a:r>
            <a:r>
              <a:rPr>
                <a:solidFill>
                  <a:srgbClr val="377EA8"/>
                </a:solidFill>
              </a:rPr>
              <a:t>toc</a:t>
            </a:r>
            <a:r>
              <a:t>: [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22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1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"title"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23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"s0"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2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"commands"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"sf"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"summary"</a:t>
            </a:r>
            <a:r>
              <a:t>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25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]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</a:t>
            </a:r>
            <a:r>
              <a:rPr>
                <a:solidFill>
                  <a:srgbClr val="D23BD0"/>
                </a:solidFill>
              </a:rPr>
              <a:t>File</a:t>
            </a:r>
            <a:r>
              <a:t>.</a:t>
            </a:r>
            <a:r>
              <a:rPr>
                <a:solidFill>
                  <a:srgbClr val="D23BD0"/>
                </a:solidFill>
              </a:rPr>
              <a:t>open</a:t>
            </a:r>
            <a:r>
              <a:t>(</a:t>
            </a:r>
            <a:r>
              <a:rPr>
                <a:solidFill>
                  <a:srgbClr val="328026"/>
                </a:solidFill>
              </a:rPr>
              <a:t>"hc_array.yaml"</a:t>
            </a:r>
            <a:r>
              <a:t>, </a:t>
            </a:r>
            <a:r>
              <a:rPr>
                <a:solidFill>
                  <a:srgbClr val="328026"/>
                </a:solidFill>
              </a:rPr>
              <a:t>"w"</a:t>
            </a:r>
            <a:r>
              <a:t>)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                  { |</a:t>
            </a:r>
            <a:r>
              <a:rPr>
                <a:solidFill>
                  <a:srgbClr val="327F7F"/>
                </a:solidFill>
              </a:rPr>
              <a:t>f</a:t>
            </a:r>
            <a:r>
              <a:t>| f.write(hc_array.to_yaml)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</a:t>
            </a:r>
            <a:r>
              <a:rPr>
                <a:solidFill>
                  <a:srgbClr val="D23BD0"/>
                </a:solidFill>
              </a:rPr>
              <a:t>puts</a:t>
            </a:r>
            <a:r>
              <a:rPr>
                <a:solidFill>
                  <a:srgbClr val="434343"/>
                </a:solidFill>
              </a:rPr>
              <a:t> </a:t>
            </a:r>
            <a:r>
              <a:t>"hc_array.yaml generated."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end</a:t>
            </a:r>
          </a:p>
        </p:txBody>
      </p:sp>
      <p:sp>
        <p:nvSpPr>
          <p:cNvPr id="234" name="# def puts_hc_array…"/>
          <p:cNvSpPr txBox="1"/>
          <p:nvPr/>
        </p:nvSpPr>
        <p:spPr>
          <a:xfrm>
            <a:off x="6364313" y="220125"/>
            <a:ext cx="5327229" cy="15214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600"/>
            </a:pPr>
            <a:r>
              <a:t># def puts_hc_array</a:t>
            </a:r>
          </a:p>
          <a:p>
            <a:pPr>
              <a:defRPr sz="3600"/>
            </a:pPr>
            <a:r>
              <a:t># TestHcArrayYaml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 bat test/test_hc_array_yaml.rb…"/>
          <p:cNvSpPr txBox="1"/>
          <p:nvPr/>
        </p:nvSpPr>
        <p:spPr>
          <a:xfrm>
            <a:off x="93244" y="1098853"/>
            <a:ext cx="12242813" cy="960545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test/test_hc_array_yaml.rb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# frozen_string_literal: true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"test_helper"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t>"fileutils"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7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class</a:t>
            </a:r>
            <a:r>
              <a:t> TestHcArrayYaml &lt; 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Minitest</a:t>
            </a:r>
            <a:r>
              <a:rPr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::</a:t>
            </a:r>
            <a:r>
              <a:rPr>
                <a:solidFill>
                  <a:srgbClr val="377EA8"/>
                </a:solidFill>
                <a:latin typeface="Roboto Mono Bold Nerd Font Complete Mono"/>
                <a:ea typeface="Roboto Mono Bold Nerd Font Complete Mono"/>
                <a:cs typeface="Roboto Mono Bold Nerd Font Complete Mono"/>
                <a:sym typeface="Roboto Mono Bold Nerd Font Complete Mono"/>
              </a:rPr>
              <a:t>Test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8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GENERATED_FILE </a:t>
            </a:r>
            <a:r>
              <a:rPr>
                <a:solidFill>
                  <a:srgbClr val="CD7923"/>
                </a:solidFill>
              </a:rPr>
              <a:t>=</a:t>
            </a:r>
            <a:r>
              <a:t> </a:t>
            </a:r>
            <a:r>
              <a:rPr>
                <a:solidFill>
                  <a:srgbClr val="328026"/>
                </a:solidFill>
              </a:rPr>
              <a:t>"hc_array.yaml"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 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EXPECTED_YAML </a:t>
            </a:r>
            <a:r>
              <a:rPr>
                <a:solidFill>
                  <a:srgbClr val="CD7923"/>
                </a:solidFill>
              </a:rPr>
              <a:t>=</a:t>
            </a:r>
            <a:r>
              <a:t> {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source_file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"./linux_basic.pdf"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11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target_dir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377EA8"/>
                </a:solidFill>
              </a:rPr>
              <a:t>toc</a:t>
            </a:r>
            <a:r>
              <a:rPr>
                <a:solidFill>
                  <a:srgbClr val="434343"/>
                </a:solidFill>
              </a:rPr>
              <a:t>: [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1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"title"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"s0"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2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rPr>
                <a:solidFill>
                  <a:srgbClr val="434343"/>
                </a:solidFill>
              </a:rPr>
              <a:t>: </a:t>
            </a:r>
            <a:r>
              <a:t>"commands"</a:t>
            </a:r>
            <a:r>
              <a:rPr>
                <a:solidFill>
                  <a:srgbClr val="434343"/>
                </a:solidFill>
              </a:rP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"sf"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rPr>
                <a:solidFill>
                  <a:srgbClr val="434343"/>
                </a:solidFill>
              </a:rP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rPr>
                <a:solidFill>
                  <a:srgbClr val="434343"/>
                </a:solidFill>
              </a:rP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rPr>
                <a:solidFill>
                  <a:srgbClr val="434343"/>
                </a:solidFill>
              </a:rPr>
              <a:t>: </a:t>
            </a:r>
            <a:r>
              <a:t>"summary"</a:t>
            </a:r>
            <a:r>
              <a:rPr>
                <a:solidFill>
                  <a:srgbClr val="434343"/>
                </a:solidFill>
              </a:rPr>
              <a:t>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16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]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17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18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setup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D23BD0"/>
                </a:solidFill>
              </a:rPr>
              <a:t>FileUtils</a:t>
            </a:r>
            <a:r>
              <a:rPr>
                <a:solidFill>
                  <a:srgbClr val="434343"/>
                </a:solidFill>
              </a:rPr>
              <a:t>.rm_f(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22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23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teardown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D23BD0"/>
                </a:solidFill>
              </a:rPr>
              <a:t>FileUtils</a:t>
            </a:r>
            <a:r>
              <a:rPr>
                <a:solidFill>
                  <a:srgbClr val="434343"/>
                </a:solidFill>
              </a:rPr>
              <a:t>.rm_f(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25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27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test_puts_hc_array_outputs_expected_yaml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CD792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28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t>require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328026"/>
                </a:solidFill>
              </a:rPr>
              <a:t>"open3"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29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output, status </a:t>
            </a:r>
            <a:r>
              <a:rPr>
                <a:solidFill>
                  <a:srgbClr val="CD7923"/>
                </a:solidFill>
              </a:rPr>
              <a:t>=</a:t>
            </a:r>
            <a:r>
              <a:rPr>
                <a:solidFill>
                  <a:srgbClr val="434343"/>
                </a:solidFill>
              </a:rPr>
              <a:t> </a:t>
            </a:r>
            <a:r>
              <a:rPr>
                <a:solidFill>
                  <a:srgbClr val="D23BD0"/>
                </a:solidFill>
              </a:rPr>
              <a:t>Open3</a:t>
            </a:r>
            <a:r>
              <a:rPr>
                <a:solidFill>
                  <a:srgbClr val="434343"/>
                </a:solidFill>
              </a:rPr>
              <a:t>.capture2(</a:t>
            </a:r>
            <a:r>
              <a:t>"bundle exec exe/hyper_card_builder puts</a:t>
            </a:r>
            <a:r>
              <a:rPr>
                <a:solidFill>
                  <a:srgbClr val="000000"/>
                </a:solidFill>
              </a:rPr>
              <a:t> </a:t>
            </a:r>
            <a:r>
              <a:t>hc_array"</a:t>
            </a:r>
            <a:r>
              <a:rPr>
                <a:solidFill>
                  <a:srgbClr val="434343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30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 status.success?, </a:t>
            </a:r>
            <a:r>
              <a:rPr>
                <a:solidFill>
                  <a:srgbClr val="328026"/>
                </a:solidFill>
              </a:rPr>
              <a:t>"Command failed: </a:t>
            </a:r>
            <a:r>
              <a:t>#{output}</a:t>
            </a:r>
            <a:r>
              <a:rPr>
                <a:solidFill>
                  <a:srgbClr val="328026"/>
                </a:solidFill>
              </a:rPr>
              <a:t>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31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77EA8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32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assert </a:t>
            </a:r>
            <a:r>
              <a:rPr>
                <a:solidFill>
                  <a:srgbClr val="D23BD0"/>
                </a:solidFill>
              </a:rPr>
              <a:t>File</a:t>
            </a:r>
            <a:r>
              <a:rPr>
                <a:solidFill>
                  <a:srgbClr val="434343"/>
                </a:solidFill>
              </a:rPr>
              <a:t>.exist?(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), </a:t>
            </a:r>
            <a:r>
              <a:rPr>
                <a:solidFill>
                  <a:srgbClr val="328026"/>
                </a:solidFill>
              </a:rPr>
              <a:t>"Expected </a:t>
            </a:r>
            <a:r>
              <a:rPr>
                <a:solidFill>
                  <a:srgbClr val="434343"/>
                </a:solidFill>
              </a:rPr>
              <a:t>#{</a:t>
            </a:r>
            <a:r>
              <a:t>GENERATED_FILE</a:t>
            </a:r>
            <a:r>
              <a:rPr>
                <a:solidFill>
                  <a:srgbClr val="434343"/>
                </a:solidFill>
              </a:rPr>
              <a:t>}</a:t>
            </a:r>
            <a:r>
              <a:rPr>
                <a:solidFill>
                  <a:srgbClr val="328026"/>
                </a:solidFill>
              </a:rPr>
              <a:t> to be ge</a:t>
            </a:r>
            <a:r>
              <a:t>nerated"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33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34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actual_yaml </a:t>
            </a:r>
            <a:r>
              <a:rPr>
                <a:solidFill>
                  <a:srgbClr val="CD7923"/>
                </a:solidFill>
              </a:rPr>
              <a:t>=</a:t>
            </a:r>
            <a:r>
              <a:t> </a:t>
            </a:r>
            <a:r>
              <a:rPr>
                <a:solidFill>
                  <a:srgbClr val="D23BD0"/>
                </a:solidFill>
              </a:rPr>
              <a:t>YAML</a:t>
            </a:r>
            <a:r>
              <a:t>.load_file(</a:t>
            </a:r>
            <a:r>
              <a:rPr>
                <a:solidFill>
                  <a:srgbClr val="377EA8"/>
                </a:solidFill>
              </a:rPr>
              <a:t>GENERATED_FILE</a:t>
            </a:r>
            <a:r>
              <a:t>)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35</a:t>
            </a:r>
            <a:r>
              <a:rPr>
                <a:solidFill>
                  <a:srgbClr val="000000"/>
                </a:solidFill>
              </a:rPr>
              <a:t>  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assert_equal </a:t>
            </a:r>
            <a:r>
              <a:rPr>
                <a:solidFill>
                  <a:srgbClr val="377EA8"/>
                </a:solidFill>
              </a:rPr>
              <a:t>EXPECTED_YAML</a:t>
            </a:r>
            <a:r>
              <a:t>, actual_yaml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36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</a:t>
            </a:r>
            <a:r>
              <a:rPr>
                <a:solidFill>
                  <a:srgbClr val="CD7923"/>
                </a:solidFill>
              </a:rPr>
              <a:t>end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37</a:t>
            </a:r>
            <a:r>
              <a:rPr>
                <a:solidFill>
                  <a:srgbClr val="000000"/>
                </a:solidFill>
              </a:rPr>
              <a:t>  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CD7923"/>
                </a:solidFill>
              </a:rPr>
              <a:t>end</a:t>
            </a:r>
          </a:p>
        </p:txBody>
      </p:sp>
      <p:sp>
        <p:nvSpPr>
          <p:cNvPr id="237" name=" bat lib/hyper_card_builder.rb…"/>
          <p:cNvSpPr txBox="1"/>
          <p:nvPr/>
        </p:nvSpPr>
        <p:spPr>
          <a:xfrm>
            <a:off x="4148331" y="2107900"/>
            <a:ext cx="8846295" cy="35658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bat </a:t>
            </a:r>
            <a:r>
              <a:t>lib/hyper_card_builder.rb</a:t>
            </a:r>
            <a:r>
              <a:rPr u="none"/>
              <a:t> 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desc </a:t>
            </a:r>
            <a:r>
              <a:t>"puts_hc_array"</a:t>
            </a:r>
            <a:r>
              <a:rPr>
                <a:solidFill>
                  <a:srgbClr val="434343"/>
                </a:solidFill>
              </a:rPr>
              <a:t>, </a:t>
            </a:r>
            <a:r>
              <a:t>"Outputs hc_array.yaml"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D38D4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def</a:t>
            </a:r>
            <a:r>
              <a:rPr>
                <a:solidFill>
                  <a:srgbClr val="434343"/>
                </a:solidFill>
              </a:rPr>
              <a:t> </a:t>
            </a:r>
            <a:r>
              <a:t>puts_hc_array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hc_array </a:t>
            </a:r>
            <a:r>
              <a:rPr>
                <a:solidFill>
                  <a:srgbClr val="CD7923"/>
                </a:solidFill>
              </a:rPr>
              <a:t>=</a:t>
            </a:r>
            <a:r>
              <a:t> {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19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  </a:t>
            </a:r>
            <a:r>
              <a:rPr>
                <a:solidFill>
                  <a:srgbClr val="377EA8"/>
                </a:solidFill>
              </a:rPr>
              <a:t>source_file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"./linux_basic.pdf"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20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  </a:t>
            </a:r>
            <a:r>
              <a:rPr>
                <a:solidFill>
                  <a:srgbClr val="377EA8"/>
                </a:solidFill>
              </a:rPr>
              <a:t>target_dir</a:t>
            </a:r>
            <a:r>
              <a:rPr>
                <a:solidFill>
                  <a:srgbClr val="434343"/>
                </a:solidFill>
              </a:rPr>
              <a:t>: </a:t>
            </a:r>
            <a:r>
              <a:t>"./linux_basic"</a:t>
            </a:r>
            <a:r>
              <a:rPr>
                <a:solidFill>
                  <a:srgbClr val="434343"/>
                </a:solidFill>
              </a:rPr>
              <a:t>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21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</a:t>
            </a:r>
            <a:r>
              <a:rPr>
                <a:solidFill>
                  <a:srgbClr val="377EA8"/>
                </a:solidFill>
              </a:rPr>
              <a:t>toc</a:t>
            </a:r>
            <a:r>
              <a:t>: [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22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1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"title"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23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"s0"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2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nil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"commands"</a:t>
            </a:r>
            <a:r>
              <a:t> },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24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  { </a:t>
            </a:r>
            <a:r>
              <a:rPr>
                <a:solidFill>
                  <a:srgbClr val="377EA8"/>
                </a:solidFill>
              </a:rPr>
              <a:t>no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"sf"</a:t>
            </a:r>
            <a:r>
              <a:t>, </a:t>
            </a:r>
            <a:r>
              <a:rPr>
                <a:solidFill>
                  <a:srgbClr val="377EA8"/>
                </a:solidFill>
              </a:rPr>
              <a:t>init</a:t>
            </a:r>
            <a: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t>, </a:t>
            </a:r>
            <a:r>
              <a:rPr>
                <a:solidFill>
                  <a:srgbClr val="377EA8"/>
                </a:solidFill>
              </a:rPr>
              <a:t>fin</a:t>
            </a:r>
            <a:r>
              <a:t>: </a:t>
            </a:r>
            <a:r>
              <a:rPr>
                <a:solidFill>
                  <a:srgbClr val="A77B25"/>
                </a:solidFill>
              </a:rPr>
              <a:t>8</a:t>
            </a:r>
            <a:r>
              <a:t>, </a:t>
            </a:r>
            <a:r>
              <a:rPr>
                <a:solidFill>
                  <a:srgbClr val="377EA8"/>
                </a:solidFill>
              </a:rPr>
              <a:t>head</a:t>
            </a:r>
            <a:r>
              <a:t>: </a:t>
            </a:r>
            <a:r>
              <a:rPr>
                <a:solidFill>
                  <a:srgbClr val="328026"/>
                </a:solidFill>
              </a:rPr>
              <a:t>"summary"</a:t>
            </a:r>
            <a:r>
              <a:t>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25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  ]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26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27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t>      </a:t>
            </a:r>
            <a:r>
              <a:rPr>
                <a:solidFill>
                  <a:srgbClr val="D23BD0"/>
                </a:solidFill>
              </a:rPr>
              <a:t>File</a:t>
            </a:r>
            <a:r>
              <a:t>.</a:t>
            </a:r>
            <a:r>
              <a:rPr>
                <a:solidFill>
                  <a:srgbClr val="D23BD0"/>
                </a:solidFill>
              </a:rPr>
              <a:t>open</a:t>
            </a:r>
            <a:r>
              <a:t>(</a:t>
            </a:r>
            <a:r>
              <a:rPr>
                <a:solidFill>
                  <a:srgbClr val="328026"/>
                </a:solidFill>
              </a:rPr>
              <a:t>"hc_array.yaml"</a:t>
            </a:r>
            <a:r>
              <a:t>, </a:t>
            </a:r>
            <a:r>
              <a:rPr>
                <a:solidFill>
                  <a:srgbClr val="328026"/>
                </a:solidFill>
              </a:rPr>
              <a:t>"w"</a:t>
            </a:r>
            <a:r>
              <a:t>) 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434343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                   { |</a:t>
            </a:r>
            <a:r>
              <a:rPr>
                <a:solidFill>
                  <a:srgbClr val="327F7F"/>
                </a:solidFill>
              </a:rPr>
              <a:t>f</a:t>
            </a:r>
            <a:r>
              <a:t>| f.write(hc_array.to_yaml) }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328026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>
                <a:solidFill>
                  <a:srgbClr val="6E6E6E"/>
                </a:solidFill>
              </a:rPr>
              <a:t>  28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E6E6E"/>
                </a:solidFill>
              </a:rP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  </a:t>
            </a:r>
            <a:r>
              <a:rPr>
                <a:solidFill>
                  <a:srgbClr val="D23BD0"/>
                </a:solidFill>
              </a:rPr>
              <a:t>puts</a:t>
            </a:r>
            <a:r>
              <a:rPr>
                <a:solidFill>
                  <a:srgbClr val="434343"/>
                </a:solidFill>
              </a:rPr>
              <a:t> </a:t>
            </a:r>
            <a:r>
              <a:t>"hc_array.yaml generated."</a:t>
            </a:r>
            <a:endParaRPr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6E6E6E"/>
                </a:solid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29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AFAD24"/>
                </a:solidFill>
              </a:rPr>
              <a:t>~</a:t>
            </a:r>
            <a:r>
              <a:rPr>
                <a:solidFill>
                  <a:srgbClr val="000000"/>
                </a:solidFill>
              </a:rPr>
              <a:t> </a:t>
            </a:r>
            <a:r>
              <a:t>│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434343"/>
                </a:solidFill>
              </a:rPr>
              <a:t>    </a:t>
            </a:r>
            <a:r>
              <a:rPr>
                <a:solidFill>
                  <a:srgbClr val="CD7923"/>
                </a:solidFill>
              </a:rPr>
              <a:t>end</a:t>
            </a:r>
          </a:p>
        </p:txBody>
      </p:sp>
      <p:sp>
        <p:nvSpPr>
          <p:cNvPr id="238" name="# in test_env"/>
          <p:cNvSpPr txBox="1"/>
          <p:nvPr/>
        </p:nvSpPr>
        <p:spPr>
          <a:xfrm>
            <a:off x="157073" y="107046"/>
            <a:ext cx="3681041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in test_env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 ruby -Ilib:test test/test_split_pdf_wo_pages.rb…"/>
          <p:cNvSpPr txBox="1"/>
          <p:nvPr/>
        </p:nvSpPr>
        <p:spPr>
          <a:xfrm>
            <a:off x="789501" y="1418859"/>
            <a:ext cx="9926465" cy="3149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 u="sng">
                <a:solidFill>
                  <a:srgbClr val="38C1FF"/>
                </a:solidFill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rPr u="none">
                <a:solidFill>
                  <a:srgbClr val="FA3B1E"/>
                </a:solidFill>
              </a:rPr>
              <a:t> </a:t>
            </a:r>
            <a:r>
              <a:rPr u="none">
                <a:solidFill>
                  <a:srgbClr val="457CF9"/>
                </a:solidFill>
              </a:rPr>
              <a:t>ruby </a:t>
            </a:r>
            <a:r>
              <a:rPr u="none"/>
              <a:t>-Ilib:test </a:t>
            </a:r>
            <a:r>
              <a:t>test/test_split_pdf_wo_pages.rb</a:t>
            </a:r>
            <a:endParaRPr u="none">
              <a:solidFill>
                <a:srgbClr val="000000"/>
              </a:solidFill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Started with run options --seed 58979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TestSplitPDFwoPages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qpdf: operation succeeded with warnings; resulting file may have some problems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"./linux_basic/title.pdf"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qpdf ./linux_basic.pdf --pages . 1-1 -- ./linux_basic/title.pdf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"./linux_basic/s0_commands.pdf"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qpdf ./linux_basic.pdf --pages . 2-2 -- ./linux_basic/s0_commands.pdf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"./linux_basic/sf_summary.pdf"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qpdf ./linux_basic.pdf --pages . 8-8 -- ./linux_basic/sf_summary.pdf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  test_split_linux_basic_pdf_by_yaml                             </a:t>
            </a:r>
            <a:r>
              <a:rPr>
                <a:solidFill>
                  <a:srgbClr val="34BC26"/>
                </a:solidFill>
              </a:rPr>
              <a:t> PASS</a:t>
            </a:r>
            <a:r>
              <a:t> (0.10s)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Finished in 0.09615s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uFill>
                  <a:solidFill>
                    <a:srgbClr val="38C1FF"/>
                  </a:solidFill>
                </a:uFill>
                <a:latin typeface="Roboto Mono Medium Nerd Font Complete Mono"/>
                <a:ea typeface="Roboto Mono Medium Nerd Font Complete Mono"/>
                <a:cs typeface="Roboto Mono Medium Nerd Font Complete Mono"/>
                <a:sym typeface="Roboto Mono Medium Nerd Font Complete Mono"/>
              </a:defRPr>
            </a:pPr>
            <a:r>
              <a:t>1 tests, 5 assertions, </a:t>
            </a:r>
            <a:r>
              <a:rPr>
                <a:solidFill>
                  <a:srgbClr val="34BC26"/>
                </a:solidFill>
              </a:rPr>
              <a:t>0 failures, 0 errors, </a:t>
            </a:r>
            <a:r>
              <a:rPr>
                <a:solidFill>
                  <a:srgbClr val="AFAD24"/>
                </a:solidFill>
              </a:rPr>
              <a:t>0 skips</a:t>
            </a:r>
          </a:p>
        </p:txBody>
      </p:sp>
      <p:sp>
        <p:nvSpPr>
          <p:cNvPr id="241" name="# test_split_pdf_wo_pages"/>
          <p:cNvSpPr txBox="1"/>
          <p:nvPr/>
        </p:nvSpPr>
        <p:spPr>
          <a:xfrm>
            <a:off x="303470" y="341281"/>
            <a:ext cx="6973417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/>
            </a:lvl1pPr>
          </a:lstStyle>
          <a:p>
            <a:pPr/>
            <a:r>
              <a:t># test_split_pdf_wo_pages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>
          <a:outerShdw sx="100000" sy="100000" kx="0" ky="0" algn="b" rotWithShape="0" blurRad="635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Roboto Mono Medium for Powerline"/>
            <a:ea typeface="Roboto Mono Medium for Powerline"/>
            <a:cs typeface="Roboto Mono Medium for Powerline"/>
            <a:sym typeface="Roboto Mono Medium for Powerlin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>
          <a:outerShdw sx="100000" sy="100000" kx="0" ky="0" algn="b" rotWithShape="0" blurRad="635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Roboto Mono Medium for Powerline"/>
            <a:ea typeface="Roboto Mono Medium for Powerline"/>
            <a:cs typeface="Roboto Mono Medium for Powerline"/>
            <a:sym typeface="Roboto Mono Medium for Powerlin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